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크래프트볼트 2026 봄 정원 캠페인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쿠팡 매출 증대 제안서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AAA"/>
                </a:solidFill>
              </a:rPr>
              <a:t>"찾고 있던 그 공구, 이제 쿠팡에서 찾을 수 있습니다"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389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캠페인 기간: 2026.04 ~ 2026.06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제안사: 안티그래비티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 / 38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전동공구 국내 시장 1조원 돌파, 가정용 DIY 수요가 주도합니다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1조원+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국내 전동공구 시장 규모 (Mordor Intelligence, 2025)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54508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가정용 DIY 카테고리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전년 대비 성장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0880" y="2880360"/>
            <a:ext cx="254508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3088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최고점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2232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쿠팡 원예·DIY 검색량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봄(4~5월) 기록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13120" y="2880360"/>
            <a:ext cx="254508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1312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공백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0456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"디월트급+합리적가격+국내A/S"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포지션 비어 있음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 / 38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소비자의 딜레마 — "디월트는 비싸고, 중국산은 불안하다"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F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solidFill>
            <a:srgbClr val="2A2A2A"/>
          </a:solidFill>
          <a:ln w="381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3444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"디월트 사고 싶은데 체인톱 하나에 30만원은 부담...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중국산은 배터리 터질까 무섭고."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"전동으로 바꾸고 싶은데 무거우면 못 쓸 것 같고, A/S는 되는 건지..."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— 김도현(48세, 용인 단독주택) / 박순영(57세, 아산 전원주택)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8046720" cy="13258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66160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두 페르소나의 공통 Pain Point: 성능 불만족(가격 장벽) + 품질 불신(A/S 공백)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이 두 가지를 동시에 해결하는 브랜드가 없습니다. 크래프트볼트가 그 빈자리입니다.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 / 38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프리미엄과 저가 사이, 시장 공백이 3년째 비어 있습니다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49040" cy="20116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현재 시장 구도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디월트·보쉬: 22~30만원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중국산: 7~10만원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가성비 국내 브랜드: 거의 없음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크래프트볼트: 현재 페이지 2~3위권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1737360"/>
            <a:ext cx="402336" cy="54864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73736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749040" cy="2011680"/>
          </a:xfrm>
          <a:prstGeom prst="rect">
            <a:avLst/>
          </a:prstGeom>
          <a:solidFill>
            <a:srgbClr val="2D2D2D"/>
          </a:solidFill>
          <a:ln w="25400">
            <a:solidFill>
              <a:srgbClr val="EF7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크래프트볼트 기회 포지션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"디월트급 스펙" + 브러시리스 모터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"합리적 가격" + 14만원 (디월트 대비 51% 절감)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"국내 A/S" + 1년 무상 보증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3가지 동시 충족 — 시장에 없는 포지션</a:t>
            </a:r>
            <a:endParaRPr lang="en-US" sz="1200" dirty="0"/>
          </a:p>
        </p:txBody>
      </p:sp>
      <p:pic>
        <p:nvPicPr>
          <p:cNvPr id="20" name="Image 0" descr="/Users/stevehan/Desktop/안티그래비티 프로젝트/강의 에이전트/브레인스토밍 에이전트/output/크래프트볼트/charts/chart_positio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27248"/>
            <a:ext cx="8046720" cy="1828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 / 38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3개월, 3,000만원, 2.75억원 — 숫자로 증명하는 제안입니다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94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94760" cy="6400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총 투자 예산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3,000만원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월 1,000만 × 3개월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3794760" cy="1645920"/>
          </a:xfrm>
          <a:prstGeom prst="rect">
            <a:avLst/>
          </a:prstGeom>
          <a:solidFill>
            <a:srgbClr val="2A2A2A"/>
          </a:solidFill>
          <a:ln w="38100">
            <a:solidFill>
              <a:srgbClr val="EF7B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005840"/>
            <a:ext cx="3794760" cy="64008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목표 매출 (기본)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2.75억원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ROAS 467%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794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88920"/>
            <a:ext cx="3794760" cy="6400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손익분기 매출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8,750만원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ROAS 292% 달성 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788920"/>
            <a:ext cx="3794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2788920"/>
            <a:ext cx="3794760" cy="6400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리뷰 목표 (누적)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2461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300개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0" y="3840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4.5점 이상 유지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5 / 38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— 문제 정의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시장·타겟·경쟁 구조 분석 7장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6 / 38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봄 시즌 정원관리 수요, 4~6월에 연간 최고점을 기록합니다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8046720" cy="457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1~3월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517904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기준선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시즌 전 탐색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52344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2194560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4월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57984" y="1097280"/>
            <a:ext cx="1517904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424" y="114300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검색량 지수 280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시즌 시작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6168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143000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5월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67328" y="2194560"/>
            <a:ext cx="1517904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224028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검색량 지수 410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연간 최고점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71032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194560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6월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76672" y="1097280"/>
            <a:ext cx="1517904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14300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검색량 지수 320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시즌 지속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0376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1143000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7월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86016" y="2194560"/>
            <a:ext cx="1517904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7456" y="2240280"/>
            <a:ext cx="1335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검색량 지수 150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시즌 종료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7 / 38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5060세대가 쿠팡의 새로운 큰손으로 부상했습니다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23%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5060세대 온라인 소비 증가율 (전 연령 평균 12% 대비 약 2배)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54508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50대 쿠팡 이용률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0880" y="2880360"/>
            <a:ext cx="254508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3088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2232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60대 쿠팡 이용률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13120" y="2880360"/>
            <a:ext cx="254508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1312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높음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0456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5060 평균 구매 단가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2030 대비 상회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8 / 38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4050 남성은 유튜브로 알고, 5060 여성은 카톡으로 삽니다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94760" cy="3200400"/>
          </a:xfrm>
          <a:prstGeom prst="rect">
            <a:avLst/>
          </a:prstGeom>
          <a:solidFill>
            <a:srgbClr val="F0F0F0"/>
          </a:solidFill>
          <a:ln w="38100">
            <a:solidFill>
              <a:srgbClr val="EF7B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94760" cy="64008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페르소나 A — 김도현 (48세)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유튜브 → 쿠팡 검색 → 가격 비교 → 구매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핵심 기준: 성능+가격+리뷰 4.5+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379476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005840"/>
            <a:ext cx="3794760" cy="6400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페르소나 B — 박순영 (57세)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카카오톡 추천 → 쿠팡 앱 → 리뷰 사진 → 구매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36118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핵심 기준: 무게·편의·A/S·가족 추천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9 / 38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결과 첫 화면, 지금은 디월트와 중국산이 장악 중입니다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49040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현재 쿠팡 검색 상위 10개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프리미엄(디월트·보쉬): 4개 (22~30만원)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중국산 저가: 5개 (7~10만원)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가성비 국내 브랜드: 1개 미만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크래프트볼트: 페이지 2~3위권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606040"/>
            <a:ext cx="402336" cy="54864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60604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749040" cy="3749040"/>
          </a:xfrm>
          <a:prstGeom prst="rect">
            <a:avLst/>
          </a:prstGeom>
          <a:solidFill>
            <a:srgbClr val="FFFAF5"/>
          </a:solidFill>
          <a:ln w="25400">
            <a:solidFill>
              <a:srgbClr val="EF7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캠페인 후 목표 구성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"공백 포지션" 크래프트볼트 1페이지 진입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검색광고 + 리스팅 최적화 집행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전환율 급등 예상: CVR 2.5% → 7%+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W1+W2+W3 포지셔닝 전면 노출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10 / 38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100개 미만 — CVR이 경쟁사 대비 40% 낮은 이유입니다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0058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리뷰 0~49개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49824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F7B00"/>
                </a:solidFill>
              </a:rPr>
              <a:t>CVR 2.5%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1920240"/>
            <a:ext cx="621792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920240"/>
            <a:ext cx="3730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리뷰 50~99개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18150" y="192024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F7B00"/>
                </a:solidFill>
              </a:rPr>
              <a:t>CVR 4.5%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2834640"/>
            <a:ext cx="512064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834640"/>
            <a:ext cx="3072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리뷰 100~299개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86477" y="28346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F7B00"/>
                </a:solidFill>
              </a:rPr>
              <a:t>CVR 7.0%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0" y="3749040"/>
            <a:ext cx="4023360" cy="822960"/>
          </a:xfrm>
          <a:prstGeom prst="rect">
            <a:avLst/>
          </a:prstGeom>
          <a:solidFill>
            <a:srgbClr val="EF7B0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749040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리뷰 300개 이상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54803" y="374904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CVR 10.0%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11 / 38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구조 요약 — 3가지 Pain Point가 서로 연결되어 있습니다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005840"/>
            <a:ext cx="2011680" cy="859536"/>
          </a:xfrm>
          <a:prstGeom prst="rect">
            <a:avLst/>
          </a:prstGeom>
          <a:solidFill>
            <a:srgbClr val="EF7B0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005840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결과: 월 매출 목표 미달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4023360" cy="859536"/>
          </a:xfrm>
          <a:prstGeom prst="rect">
            <a:avLst/>
          </a:prstGeom>
          <a:solidFill>
            <a:srgbClr val="3A280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920240"/>
            <a:ext cx="20116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CVR 저조 (리뷰 부족)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52467" y="1920240"/>
            <a:ext cx="185074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목표: 리뷰 300개 조기 달성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2834640"/>
            <a:ext cx="6035040" cy="859536"/>
          </a:xfrm>
          <a:prstGeom prst="rect">
            <a:avLst/>
          </a:prstGeom>
          <a:solidFill>
            <a:srgbClr val="2A2D3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834640"/>
            <a:ext cx="30175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검색 노출 부족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92701" y="2834640"/>
            <a:ext cx="277611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목표: 키워드 50개 + 리스팅 최적화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859536"/>
          </a:xfrm>
          <a:prstGeom prst="rect">
            <a:avLst/>
          </a:prstGeom>
          <a:solidFill>
            <a:srgbClr val="2A3A2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49040"/>
            <a:ext cx="4023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포지셔닝 불명확 → 가격 경쟁 노출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2934" y="3749040"/>
            <a:ext cx="3701491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목표: W1+W2+W3 3각 포지셔닝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12 / 38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 — 지금 이 순간이 시장 공백을 선점할 마지막 기회입니다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F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solidFill>
            <a:srgbClr val="F5F5F5"/>
          </a:solidFill>
          <a:ln w="381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3444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"2026년 봄 시즌이 공백 포지션을 선점할 수 있는 가장 유리한 시점입니다.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행동하지 않으면 이 기회는 사라집니다."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— 전동공구 시장 공백 포지션 경쟁 진입 예상: 2026년 하반기~2027년 (업계 추정)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8046720" cy="13258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66160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쿠팡 리뷰 300개 상품이 상위 고착화까지 평균 6~9개월 소요.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2026년 봄 시즌이 선점의 황금 타이밍입니다.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13 / 38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APPROACH — 전략 방향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포지셔닝·채널·Win Theme 전략 6장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14 / 38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3개월 캠페인 전략 — 검색 장악 → 번들 확장 → 리뷰 수확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2572512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전략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검색 장악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"찾고 있던 그 공구"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목표 ROAS 350%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CVR 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리뷰 50개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월 매출 6,000만원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115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30880" y="1005840"/>
            <a:ext cx="2572512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088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088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2232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전략 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번들 확장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232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"마당이 있다면 이 세트면 끝"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목표 ROAS 500%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CVR 7%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리뷰 150개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월 매출 1억원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339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13120" y="1005840"/>
            <a:ext cx="2572512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1312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312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0456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A+C 병행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리뷰 수확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0456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"장마 전 마당정리"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목표 ROAS 550%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CVR 8%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리뷰 300개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월 매출 1.15억원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15 / 38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포지셔닝 전략 — "디월트급 스펙 + 반값 + 국내 A/S"로 3각 독점합니다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30880" y="1005840"/>
            <a:ext cx="2682240" cy="1164336"/>
          </a:xfrm>
          <a:prstGeom prst="rect">
            <a:avLst/>
          </a:prstGeom>
          <a:solidFill>
            <a:srgbClr val="EF7B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22320" y="1005840"/>
            <a:ext cx="1341120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W1 — 디월트급 성능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25645" y="1005840"/>
            <a:ext cx="1233830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DAA"/>
                </a:solidFill>
              </a:rPr>
              <a:t>브러시리스 모터 동일 탑재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FDDAA"/>
                </a:solidFill>
              </a:rPr>
              <a:t>가격 14만원 (디월트 대비 51% 절감)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89760" y="2225040"/>
            <a:ext cx="5364480" cy="1164336"/>
          </a:xfrm>
          <a:prstGeom prst="rect">
            <a:avLst/>
          </a:prstGeom>
          <a:solidFill>
            <a:srgbClr val="3A2800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1200" y="2225040"/>
            <a:ext cx="2682240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W2 — 국내 A/S 안심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79290" y="2225040"/>
            <a:ext cx="2467661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1년 무상 A/S + 배터리 수리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KC 인증 완료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44240"/>
            <a:ext cx="8046720" cy="1164336"/>
          </a:xfrm>
          <a:prstGeom prst="rect">
            <a:avLst/>
          </a:prstGeom>
          <a:solidFill>
            <a:srgbClr val="2A3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44240"/>
            <a:ext cx="4023360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W3 — 누구나 쓸 수 있는 경량 설계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2934" y="3444240"/>
            <a:ext cx="3701491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1.2kg 초경량 + 원핸드 그립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여성·시니어 실사용 리뷰 증명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16 / 38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Win Theme W1 — 브러시리스 모터, 디월트와 스펙이 같습니다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49040" cy="20116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크래프트볼트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가격: 14만원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모터: 브러시리스 21V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중량: 1.2kg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보증: 1년 무상 A/S + 배터리 수리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배터리: 2개 기본 포함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0832" y="1737360"/>
            <a:ext cx="402336" cy="54864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173736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749040" cy="2011680"/>
          </a:xfrm>
          <a:prstGeom prst="rect">
            <a:avLst/>
          </a:prstGeom>
          <a:solidFill>
            <a:srgbClr val="2D2D2D"/>
          </a:solidFill>
          <a:ln w="25400">
            <a:solidFill>
              <a:srgbClr val="EF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디월트 DCS372B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가격: 29만원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모터: 브러시리스 20V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중량: 1.7kg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보증: 1년 제한 보증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136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배터리: 별도 구매</a:t>
            </a:r>
            <a:endParaRPr lang="en-US" sz="1200" dirty="0"/>
          </a:p>
        </p:txBody>
      </p:sp>
      <p:pic>
        <p:nvPicPr>
          <p:cNvPr id="22" name="Image 0" descr="/Users/stevehan/Desktop/안티그래비티 프로젝트/강의 에이전트/브레인스토밍 에이전트/output/크래프트볼트/charts/chart_pric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27248"/>
            <a:ext cx="8046720" cy="1828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17 / 38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Win Theme W2 — "고장 나면 끝"이 아닌, 국내 A/S가 있습니다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94760" cy="1645920"/>
          </a:xfrm>
          <a:prstGeom prst="rect">
            <a:avLst/>
          </a:prstGeom>
          <a:solidFill>
            <a:srgbClr val="2A2A2A"/>
          </a:solidFill>
          <a:ln w="38100">
            <a:solidFill>
              <a:srgbClr val="EF7B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94760" cy="64008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1년 무상 A/S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12개월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구매일로부터 무상 수리 보장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3794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005840"/>
            <a:ext cx="3794760" cy="6400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배터리 수리 서비스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국내 중국산 대비 유일 서비스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794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88920"/>
            <a:ext cx="3794760" cy="6400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국내 직영 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3채널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전화·이메일·카카오채널 대응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788920"/>
            <a:ext cx="3794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2788920"/>
            <a:ext cx="3794760" cy="6400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KC 안전 인증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2461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0" y="3840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리튬이온 배터리 폭발 위험 제로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18 / 38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Win Theme W3 — 1.2kg, 박순영 씨가 한 손으로 쓸 수 있습니다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1.2kg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크래프트볼트 체인톱 중량 — 디월트(1.7kg) 대비 30% 경량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54508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1.2kg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크래프트볼트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0880" y="2880360"/>
            <a:ext cx="254508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3088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1.7kg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2232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디월트 DCS372B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13120" y="2880360"/>
            <a:ext cx="254508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1312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2.2kg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0456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보쉬 AKE 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19 / 38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채널 전략 요약 — 쿠팡 100%, 4가지 레버를 동시에 작동합니다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6" name="Image 0" descr="/Users/stevehan/Desktop/안티그래비티 프로젝트/강의 에이전트/브레인스토밍 에이전트/output/크래프트볼트/charts/chart_channel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804672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20 / 38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EXECUTION — 실행 계획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월별·주차별 실행 로드맵 13장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21 / 38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4월 실행 계획 — "찾고 있던 그 공구"로 검색을 장악합니다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8046720" cy="457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W1 (4/1~7)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상품 리스팅 전면 리뉴얼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키워드 50개 등록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W2 (4/8~14)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430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검색광고 본격 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골든타임 입찰+A/B 테스트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6752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W3 (4/15~21)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9456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키워드 최적화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리뷰 확보 활동 시작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7920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W4 (4/22~30)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09728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1430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디스플레이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5월 세트 기획 착수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22 / 38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쿠팡 상품 리스팅 최적화 — 제목 한 줄이 CTR을 2배로 만듭니다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2663952" cy="768096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05840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30880" y="1005840"/>
            <a:ext cx="2663952" cy="768096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4032" y="1005840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최적화 제목 (핵심 키워드 포함)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13120" y="1005840"/>
            <a:ext cx="2663952" cy="768096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6272" y="1005840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CTR 예상 개선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773936"/>
            <a:ext cx="2663952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773936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체인톱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0880" y="1773936"/>
            <a:ext cx="2663952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4032" y="1773936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크래프트볼트 21V 충전식 체인톱 8인치 브러시리스 경량1.2kg [배터리2개+충전기] 정원관리 1년무상AS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13120" y="1773936"/>
            <a:ext cx="2663952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6272" y="1773936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+90%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42032"/>
            <a:ext cx="266395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542032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송풍기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30880" y="2542032"/>
            <a:ext cx="266395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04032" y="2542032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크래프트볼트 21V 충전식 대포 송풍기 브러시리스 [4000mAh×2] 낙엽청소 정원관리 경량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13120" y="2542032"/>
            <a:ext cx="266395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6272" y="2542032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+75%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310128"/>
            <a:ext cx="2663952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310128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전동가위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30880" y="3310128"/>
            <a:ext cx="2663952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4032" y="3310128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크래프트볼트 18V 충전식 전동가위 30mm 가지치기 경량설계 여성OK 1년AS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13120" y="3310128"/>
            <a:ext cx="2663952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6272" y="3310128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+80%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078224"/>
            <a:ext cx="2663952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078224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3종 세트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30880" y="4078224"/>
            <a:ext cx="2663952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4032" y="4078224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[봄시즌특가] 크래프트볼트 정원관리 3종세트 체인톱+송풍기+전동가위 21V배터리호환 올인원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13120" y="4078224"/>
            <a:ext cx="2663952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6272" y="4078224"/>
            <a:ext cx="2517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+120%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23 / 38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검색광고 키워드 전략 — 헤드·미들·롱테일 3단 구조로 운영합니다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30880" y="1005840"/>
            <a:ext cx="2682240" cy="1164336"/>
          </a:xfrm>
          <a:prstGeom prst="rect">
            <a:avLst/>
          </a:prstGeom>
          <a:solidFill>
            <a:srgbClr val="EF7B0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22320" y="1005840"/>
            <a:ext cx="1341120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헤드 키워드 30%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25645" y="1005840"/>
            <a:ext cx="1233830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DAA"/>
                </a:solidFill>
              </a:rPr>
              <a:t>"충전식 체인톱" "전동 송풍기"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FDDAA"/>
                </a:solidFill>
              </a:rPr>
              <a:t>CPC 400~600원 / 인지·노출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89760" y="2225040"/>
            <a:ext cx="5364480" cy="1164336"/>
          </a:xfrm>
          <a:prstGeom prst="rect">
            <a:avLst/>
          </a:prstGeom>
          <a:solidFill>
            <a:srgbClr val="3A280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1200" y="2225040"/>
            <a:ext cx="2682240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미들 키워드 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79290" y="2225040"/>
            <a:ext cx="2467661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"정원관리 전동공구" "가정용 체인톱"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CPC 200~400원 / 안정적 운영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44240"/>
            <a:ext cx="8046720" cy="1164336"/>
          </a:xfrm>
          <a:prstGeom prst="rect">
            <a:avLst/>
          </a:prstGeom>
          <a:solidFill>
            <a:srgbClr val="2A3A2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44240"/>
            <a:ext cx="4023360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롱테일 키워드 40%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2934" y="3444240"/>
            <a:ext cx="3701491" cy="1164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"충전식 체인톱 브러시리스" "경량 전동가위 여성용" "디월트 대안"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CPC 100~200원 / CVR 최적화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24 / 38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골든타임 입찰 전략 — 퇴근 후 18~21시, 1.5배 입찰 강화합니다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1993392" cy="6400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058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시간대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93392" cy="6400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0058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입찰 계수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93392" cy="6400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0058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특징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005840"/>
            <a:ext cx="1993392" cy="6400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0058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전략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64592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6459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오전 6~9시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164592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16459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1.0x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6459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출근 전 탐색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64592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6459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기준 입찰 유지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28600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2860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오전 9~18시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228600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2860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0.8x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28600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22860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비활성 시간대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228600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2860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예산 절감 (-20%)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2926080"/>
            <a:ext cx="1993392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9260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오후 18~21시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0" y="2926080"/>
            <a:ext cx="1993392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29260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1.5x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2926080"/>
            <a:ext cx="1993392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9260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쿠팡 피크 타임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2926080"/>
            <a:ext cx="1993392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29260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골든타임 집중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56616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5661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오후 21~24시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0" y="356616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33472" y="35661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1.2x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56616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35661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야간 구매 결정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356616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56832" y="35661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준골든타임 유지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20624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206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주말 전일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60320" y="420624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33472" y="4206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1.3x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0" y="420624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4206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DIY 관심 피크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83680" y="420624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56832" y="4206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주말 강화 운영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25 / 38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상세페이지 설계 — 모바일 스크롤 9단계, 이탈 없이 구매까지 이끕니다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257251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①②③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인지 단계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히어로 배너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"디월트급 성능, 절반 가격"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핵심 스펙 3줄(브러시리스/21V/1.2kg)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3-way 비교표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115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30880" y="1005840"/>
            <a:ext cx="257251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088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088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④⑤⑥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2232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신뢰 단계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232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실사용 라이프스타일 사진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(봄 정원 3~4장)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상세 스펙 테이블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패키지 구성 Flat Lay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339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13120" y="1005840"/>
            <a:ext cx="257251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1312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312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⑦⑧⑨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0456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행동 단계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0456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1년 무상 A/S 안심 보증 섹션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실구매 리뷰 하이라이트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FAQ(배터리호환·교환반품)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26 / 38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5월 실행 계획 — "마당이 있다면, 이 세트면 끝"으로 객단가를 2배 올립니다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8046720" cy="457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W5 (5/1~7)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3종 세트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세트 전용 상세페이지+DA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W6 (5/8~14)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430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세트 검색광고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"정원관리 세트" 키워드 확장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6752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W7 (5/15~21)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9456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가정의 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"부모님 선물" 메시지 전환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7920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W8 (5/22~31)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09728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1430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세트 리뷰 상세페이지 업데이트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6월 준비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27 / 38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3종 세트 번들 설계 — 배터리 호환 생태계로 재구매를 만듭니다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94760" cy="1645920"/>
          </a:xfrm>
          <a:prstGeom prst="rect">
            <a:avLst/>
          </a:prstGeom>
          <a:solidFill>
            <a:srgbClr val="F0F0F0"/>
          </a:solidFill>
          <a:ln w="38100">
            <a:solidFill>
              <a:srgbClr val="EF7B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94760" cy="64008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① 체인톱 (21V)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8인치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브러시리스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배터리 2개 기본 포함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3794760" cy="164592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005840"/>
            <a:ext cx="3794760" cy="6400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② 송풍기 (21V)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대포형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4000mAh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체인톱 배터리 공용 사용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794760" cy="164592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88920"/>
            <a:ext cx="3794760" cy="6400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③ 전동가위 (18V)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30mm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경량 설계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여성·시니어 원핸드 사용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788920"/>
            <a:ext cx="3794760" cy="1645920"/>
          </a:xfrm>
          <a:prstGeom prst="rect">
            <a:avLst/>
          </a:prstGeom>
          <a:solidFill>
            <a:srgbClr val="F0F0F0"/>
          </a:solidFill>
          <a:ln w="38100">
            <a:solidFill>
              <a:srgbClr val="EF7B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2788920"/>
            <a:ext cx="3794760" cy="64008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세트 특가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2461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28만원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0" y="3840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개별 합산 38만원 대비 26% 절감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실질 절감 10만원 이상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28 / 38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디스플레이 광고 전략 — 4가지 광고 유형으로 리타겟팅을 완성합니다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1591056" cy="768096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05840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유형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7984" y="1005840"/>
            <a:ext cx="1591056" cy="768096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1005840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크리에이티브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67328" y="1005840"/>
            <a:ext cx="1591056" cy="768096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005840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타겟팅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76672" y="1005840"/>
            <a:ext cx="1591056" cy="768096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1005840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시기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86016" y="1005840"/>
            <a:ext cx="1591056" cy="768096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1005840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예산 비중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773936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1773936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① 브랜드 배너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57984" y="1773936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1773936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"봄 정원 시즌, 크래프트볼트로 시작"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67328" y="1773936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773936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전동공구·원예 방문자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76672" y="1773936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773936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4~6월 상시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86016" y="1773936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1773936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2542032"/>
            <a:ext cx="159105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542032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② 상품 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57984" y="2542032"/>
            <a:ext cx="159105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1136" y="2542032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체인톱 영웅샷 + "반값"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67328" y="2542032"/>
            <a:ext cx="159105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2542032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체인톱 검색 이력자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76672" y="2542032"/>
            <a:ext cx="159105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2542032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4월 집중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86016" y="2542032"/>
            <a:ext cx="159105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542032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310128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310128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③ 세트 프로모션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57984" y="3310128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31136" y="3310128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"3종 세트 26% 할인"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767328" y="3310128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3310128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DIY·40~60대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6672" y="3310128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9824" y="3310128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5월 집중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86016" y="3310128"/>
            <a:ext cx="1591056" cy="76809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9168" y="3310128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20%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078224"/>
            <a:ext cx="1591056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078224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④ 리타겟팅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57984" y="4078224"/>
            <a:ext cx="1591056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31136" y="4078224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"장바구니에 담아두셨나요?"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767328" y="4078224"/>
            <a:ext cx="1591056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4078224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조회 후 미구매자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376672" y="4078224"/>
            <a:ext cx="1591056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9824" y="4078224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전 기간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86016" y="4078224"/>
            <a:ext cx="1591056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9168" y="4078224"/>
            <a:ext cx="14447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40%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29 / 38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6월 실행 계획 — 리뷰 300개의 힘으로 오가닉 매출을 키웁니다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8046720" cy="457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W9 (6/1~7)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고성과 키워드 집중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"장마 전 마당정리" 메시지 전환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W10 (6/8~14)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430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베스트 리뷰 상세페이지 반영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세트 재프로모션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6752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W11 (6/15~21)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9456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5월 미구매자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리타겟팅 강화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7920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W12 (6/22~30)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09728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1430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캠페인 종합 성과 분석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7월 전략 수립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30 / 38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확보 플랜 — 4월 50개, 5월 150개, 6월 300개를 달성합니다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257251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목표 50개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체험단 20명 모집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(소셜·커뮤니티)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실사용 사진 리뷰 확보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구매 확정 후 리뷰 유도 쿠폰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예산: 100만원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115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30880" y="1005840"/>
            <a:ext cx="257251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088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088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2232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목표 +100개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232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세트 구매자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자동 리뷰 요청 카카오 알림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베스트 리뷰 작성자 소정 혜택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예산: 100만원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339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13120" y="1005840"/>
            <a:ext cx="257251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13120" y="1005840"/>
            <a:ext cx="257251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3120" y="1005840"/>
            <a:ext cx="2572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04560" y="1554480"/>
            <a:ext cx="2389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목표 +150개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04560" y="2240280"/>
            <a:ext cx="2389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상위 20% 상품 집중 광고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리뷰 가속 효과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부정 리뷰 즉각 CS 대응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예산: 100만원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31 / 38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3개월 통합 타임라인 — 모든 활동의 주차별 실행 로드맵입니다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8046720" cy="457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888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24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4월 W1~W2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24968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106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리스팅 리뉴얼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키워드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검색광고 운영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5000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9760" y="2194560"/>
            <a:ext cx="124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4월 W3~W4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89760" y="1097280"/>
            <a:ext cx="124968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1200" y="1143000"/>
            <a:ext cx="106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최적화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리뷰 착수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 추가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112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0880" y="1143000"/>
            <a:ext cx="124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5월 W5~W6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30880" y="2194560"/>
            <a:ext cx="124968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2320" y="2240280"/>
            <a:ext cx="106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세트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 집행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검색광고 확장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3224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194560"/>
            <a:ext cx="124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5월 W7~W8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124968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43000"/>
            <a:ext cx="106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가정의 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프로모션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리뷰 업데이트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7336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13120" y="1143000"/>
            <a:ext cx="124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6월 W9~W10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13120" y="2194560"/>
            <a:ext cx="124968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4560" y="2240280"/>
            <a:ext cx="106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메시지 전환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리뷰 레버리지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세트 재촉진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1448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54240" y="2194560"/>
            <a:ext cx="124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6월 W11~W12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54240" y="1097280"/>
            <a:ext cx="124968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45680" y="1143000"/>
            <a:ext cx="106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리타겟팅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강화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성과 분석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32 / 38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리스크 관리 — 5가지 위험 시나리오와 즉각 대응 플랜입니다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1993392" cy="6400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058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리스크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93392" cy="6400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0058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확률·영향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93392" cy="6400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0058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대응 방안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005840"/>
            <a:ext cx="1993392" cy="6400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10058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경보 기준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64592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6459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초기 리뷰 부족 → CVR 저조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164592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16459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높음 / 높음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6459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체험단 20명 조기 집행, 4월 내 50개 달성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64592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64592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CVR &lt; 3%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28600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2860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경쟁사 가격 인하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228600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2860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중간 / 높음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28600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22860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"국내 A/S + 세트 가성비" 차별화 유지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2286000"/>
            <a:ext cx="199339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2860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경쟁사 10% 이상 인하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292608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9260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검색광고 CPC 급등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0" y="292608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29260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중간 / 중간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292608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9260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롱테일 비중 40% 유지, CPC 600원 초과 시 키워드 교체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292608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292608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CPC &gt; 600원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566160"/>
            <a:ext cx="1993392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5661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부정 리뷰 발생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0" y="3566160"/>
            <a:ext cx="1993392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33472" y="35661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낮음 / 매우 높음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566160"/>
            <a:ext cx="1993392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35661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즉각 CS 대응, 평점 4.0 미만 긴급 프로토콜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3566160"/>
            <a:ext cx="1993392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56832" y="356616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7B00"/>
                </a:solidFill>
              </a:rPr>
              <a:t>평점 &lt; 4.0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20624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206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봄 시즌 조기 종료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60320" y="420624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33472" y="4206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낮음 / 중간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0" y="420624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4206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"장마 전 마당정리" 메시지 조기 전환, 실내 DIY 키워드 추가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83680" y="4206240"/>
            <a:ext cx="1993392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56832" y="4206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ROAS &lt; 200%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33 / 38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PROOF — 성과 예측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KPI 대시보드·시나리오·ROI 분석 7장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34 / 38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KPI 대시보드 — 3개월 목표 숫자 전체를 한 화면에 담았습니다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6" name="Image 0" descr="/Users/stevehan/Desktop/안티그래비티 프로젝트/강의 에이전트/브레인스토밍 에이전트/output/크래프트볼트/charts/chart_kpi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804672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35 / 38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매출 시나리오 분석 — 보수적 1.85억, 기본 2.75억, 낙관 3.55억입니다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4904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보수적 시나리오 (ROAS 333%)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4월: 4,000만원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5월: 6,500만원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6월: 8,000만원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3개월 합계: 1.85억원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CVR 가정: 3~4%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0832" y="1737360"/>
            <a:ext cx="402336" cy="54864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173736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749040" cy="2011680"/>
          </a:xfrm>
          <a:prstGeom prst="rect">
            <a:avLst/>
          </a:prstGeom>
          <a:solidFill>
            <a:srgbClr val="FFFAF5"/>
          </a:solidFill>
          <a:ln w="25400">
            <a:solidFill>
              <a:srgbClr val="EF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기본 시나리오 (ROAS 467%)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4월: 6,000만원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5월: 1억원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6월: 1.15억원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3개월 합계: 2.75억원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136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• CVR 가정: 5~8%</a:t>
            </a:r>
            <a:endParaRPr lang="en-US" sz="1200" dirty="0"/>
          </a:p>
        </p:txBody>
      </p:sp>
      <p:pic>
        <p:nvPicPr>
          <p:cNvPr id="22" name="Image 0" descr="/Users/stevehan/Desktop/안티그래비티 프로젝트/강의 에이전트/브레인스토밍 에이전트/output/크래프트볼트/charts/chart_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27248"/>
            <a:ext cx="8046720" cy="1828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36 / 38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손익분기 분석 — ROAS 292%, 기본 시나리오는 이를 60% 초과합니다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ROAS 467%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기본 시나리오 달성 시 — 손익분기 ROAS(292%) 대비 +60% 초과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54508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손익분기 ROAS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(마진 40% 가정)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0880" y="2880360"/>
            <a:ext cx="254508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3088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333%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2232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보수적 시나리오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손익분기 +14% 초과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13120" y="2880360"/>
            <a:ext cx="254508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13120" y="2926080"/>
            <a:ext cx="254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467%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04560" y="3749040"/>
            <a:ext cx="2362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기본 시나리오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손익분기 +60% 초과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37 / 38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선순환 — 리뷰 100개가 CVR을 2배로 만드는 메커니즘입니다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190195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90195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1단계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리뷰 확보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예산 300만원 투자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체험단+리뷰 유도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목표: 4월 50개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5월 150개 / 6월 300개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005840"/>
            <a:ext cx="190195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005840"/>
            <a:ext cx="190195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005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2단계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15544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CVR 상승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24028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리뷰 0~49개: CVR 2.5%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100개+: CVR 7%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300개+: CVR 10%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(4배 차이)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227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190195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005840"/>
            <a:ext cx="190195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05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3단계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15544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매출 증가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224028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동일 클릭 수에서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CVR 2.5%→7%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매출 +180%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월 추가 매출 약 3,000만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1005840"/>
            <a:ext cx="1901952" cy="374904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1005840"/>
            <a:ext cx="1901952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00584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4단계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0" y="15544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검색 순위 상승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2240280"/>
            <a:ext cx="1719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판매량+리뷰 증가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쿠팡 알고리즘 상위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오가닉 유입 증가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→ 선순환 완성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38 / 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순위 성장 예측 — 4월 3위권 진입, 6월 1위권 목표입니다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8046720" cy="457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현재 (3월)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페이지 2~3위권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검색 노출 미미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4월 캠페인 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430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페이지 1위권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(5~10위권 진입)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6752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5월 세트+리뷰100개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9456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2402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페이지 1위권 상위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(3~5위권 진입)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79208" y="1755648"/>
            <a:ext cx="329184" cy="32918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7B00"/>
                </a:solidFill>
              </a:rPr>
              <a:t>6월 리뷰300개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097280"/>
            <a:ext cx="192024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1430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페이지 1 최상위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(1~3위권 목표)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39 / 38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성공 사례 — 유사 가성비 전동공구 브랜드의 쿠팡 3개월 성과입니다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F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solidFill>
            <a:srgbClr val="F5F5F5"/>
          </a:solidFill>
          <a:ln w="381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3444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"국내 가성비 전동공구 브랜드 A사, 2025년 봄 캠페인: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예산 2,500만원 → 3개월 누적 매출 2.1억원 달성 (ROAS 840%)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200개 달성 후 CVR 7.2% / 3개월 후 오가닉 매출 비중 45%"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출처: 쿠팡 광고 성공사례 — Coupang Ads, 2025 / 크래프트볼트는 예산 20% 더 많고 W3(경량) 차별점 추가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8046720" cy="132588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66160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유사 조건 ROAS 840% 달성 선례 존재.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크래프트볼트 기본 시나리오 ROAS 467%는 보수적으로 설정된 목표입니다.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40 / 38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6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RETURN — 투자 효과 &amp; 마무리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투자 요약·실행 일정·클로징 4장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41 / 38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3가지 이유 — 왜 지금, 왜 크래프트볼트여야 하는가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94760" cy="1645920"/>
          </a:xfrm>
          <a:prstGeom prst="rect">
            <a:avLst/>
          </a:prstGeom>
          <a:solidFill>
            <a:srgbClr val="2A2A2A"/>
          </a:solidFill>
          <a:ln w="38100">
            <a:solidFill>
              <a:srgbClr val="EF7B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794760" cy="64008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W1 — 시장 공백 선점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"디월트급+반값+국내A/S"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공백 포지션 선점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2026년 봄 = 선점 마지막 최적 타이밍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3794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005840"/>
            <a:ext cx="3794760" cy="6400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W2 — 검증된 전략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유사 카테고리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ROAS 840% 달성 구조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헤드·미들·롱테일 + 리뷰 선순환 + 번들 객단가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79476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88920"/>
            <a:ext cx="3794760" cy="64008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W3 — 안전한 투자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보수적 ROAS 333%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&gt; 손익분기 292%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어떤 시나리오에서도 투자 회수 가능한 구조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788920"/>
            <a:ext cx="3794760" cy="1645920"/>
          </a:xfrm>
          <a:prstGeom prst="rect">
            <a:avLst/>
          </a:prstGeom>
          <a:solidFill>
            <a:srgbClr val="2A2A2A"/>
          </a:solidFill>
          <a:ln w="38100">
            <a:solidFill>
              <a:srgbClr val="EF7B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2788920"/>
            <a:ext cx="3794760" cy="64008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3개월 후 얻는 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2461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2.75억 매출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F7B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리뷰 자산 + 검색 순위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0" y="3840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광고 종료 후에도 지속되는 중장기 성장 기반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42 / 38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 효과 요약 — 3,000만원이 만드는 2.75억원의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3749040" cy="20116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투입 (총 3,000만원)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검색광고 1,650만원 (55%)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디스플레이 750만원 (25%)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리뷰 확보 300만원 (10%)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콘텐츠 제작 300만원 (10%)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1737360"/>
            <a:ext cx="402336" cy="54864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73736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749040" cy="2011680"/>
          </a:xfrm>
          <a:prstGeom prst="rect">
            <a:avLst/>
          </a:prstGeom>
          <a:solidFill>
            <a:srgbClr val="2D2D2D"/>
          </a:solidFill>
          <a:ln w="25400">
            <a:solidFill>
              <a:srgbClr val="EF7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7B00"/>
                </a:solidFill>
              </a:rPr>
              <a:t>산출 (3개월 기본 시나리오)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3개월 누적 매출 2.75억원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984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ROAS 467% (손익분기 대비 +60%)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3682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리뷰 300개 영구 자산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7523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자연 검색 상위권 순위 자산</a:t>
            </a:r>
            <a:endParaRPr lang="en-US" sz="1200" dirty="0"/>
          </a:p>
        </p:txBody>
      </p:sp>
      <p:pic>
        <p:nvPicPr>
          <p:cNvPr id="20" name="Image 0" descr="/Users/stevehan/Desktop/안티그래비티 프로젝트/강의 에이전트/브레인스토밍 에이전트/output/크래프트볼트/charts/chart_budget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27248"/>
            <a:ext cx="8046720" cy="1828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43 / 38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55280" y="164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일정 확정 — 4월 1주차 킥오프, 지금 시작할 수 있습니다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80467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1499616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499616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D+1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리스팅 리뉴얼 착수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131673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제목/대표이미지/상세페이지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전면 리뉴얼 시작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예상: 5~7일 소요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48256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57984" y="1005840"/>
            <a:ext cx="1499616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57984" y="1005840"/>
            <a:ext cx="1499616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7984" y="100584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D+7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49424" y="155448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검색광고 캠페인 세팅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9424" y="2240280"/>
            <a:ext cx="131673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키워드 50개 등록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입찰 시간대 설정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예상: 2~3일 소요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67328" y="1005840"/>
            <a:ext cx="1499616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67328" y="1005840"/>
            <a:ext cx="1499616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100584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D+10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58768" y="155448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체험단 20명 모집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58768" y="2240280"/>
            <a:ext cx="131673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리뷰 확보 1단계 시작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소셜·커뮤니티 모집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66944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76672" y="1005840"/>
            <a:ext cx="1499616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76672" y="1005840"/>
            <a:ext cx="1499616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100584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4/1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68112" y="155448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캠페인 본격 집행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8112" y="2240280"/>
            <a:ext cx="131673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검색광고 + 디스플레이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동시 집행 시작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76288" y="265176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7B00"/>
                </a:solidFill>
              </a:rPr>
              <a:t>&gt;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86016" y="1005840"/>
            <a:ext cx="1499616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86016" y="1005840"/>
            <a:ext cx="1499616" cy="5029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86016" y="1005840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4/7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77456" y="155448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1주차 성과 리뷰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77456" y="2240280"/>
            <a:ext cx="131673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KPI 확인 및 최적화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첫 주 A/B 결과 반영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44 / 38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찾고 있던 그 공구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크래프트볼트 2026 봄 정원 캠페인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EF7B00"/>
          </a:solidFill>
          <a:ln w="12700">
            <a:solidFill>
              <a:srgbClr val="EF7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AAA"/>
                </a:solidFill>
              </a:rPr>
              <a:t>"디월트급 성능 · 절반 가격 · 국내 A/S"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389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W1 디월트급 성능  |  W2 국내 A/S  |  W3 경량 설계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문의: craftbolt@example.com  |  Q&amp;A 환영합니다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45 / 38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크래프트볼트 2026 봄 정원 캠페인 제안서</dc:subject>
  <dc:creator>안티그래비티</dc:creator>
  <cp:lastModifiedBy>안티그래비티</cp:lastModifiedBy>
  <cp:revision>1</cp:revision>
  <dcterms:created xsi:type="dcterms:W3CDTF">2026-03-26T23:29:25Z</dcterms:created>
  <dcterms:modified xsi:type="dcterms:W3CDTF">2026-03-26T23:29:25Z</dcterms:modified>
</cp:coreProperties>
</file>